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EcoRevive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plantation claims to verified, trackable trees.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420624" cy="420624"/>
          </a:xfrm>
          <a:prstGeom prst="ellipse">
            <a:avLst/>
          </a:prstGeom>
          <a:solidFill>
            <a:srgbClr val="2C5238"/>
          </a:solidFill>
          <a:ln/>
        </p:spPr>
      </p:sp>
      <p:pic>
        <p:nvPicPr>
          <p:cNvPr id="6" name="Image 0" descr="/home/claude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30" y="247839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2257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know whether a location is suitable or permitted for plantation.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090672"/>
            <a:ext cx="420624" cy="420624"/>
          </a:xfrm>
          <a:prstGeom prst="ellipse">
            <a:avLst/>
          </a:prstGeom>
          <a:solidFill>
            <a:srgbClr val="2C5238"/>
          </a:solidFill>
          <a:ln/>
        </p:spPr>
      </p:sp>
      <p:pic>
        <p:nvPicPr>
          <p:cNvPr id="9" name="Image 1" descr="/home/claude/icons/x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30" y="3191622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03580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contributions are difficult to verify.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803904"/>
            <a:ext cx="420624" cy="420624"/>
          </a:xfrm>
          <a:prstGeom prst="ellipse">
            <a:avLst/>
          </a:prstGeom>
          <a:solidFill>
            <a:srgbClr val="2C5238"/>
          </a:solidFill>
          <a:ln/>
        </p:spPr>
      </p:sp>
      <p:pic>
        <p:nvPicPr>
          <p:cNvPr id="12" name="Image 2" descr="/home/claude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30" y="3904854"/>
            <a:ext cx="218724" cy="2187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7490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are rarely monitored after planting.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4517136"/>
            <a:ext cx="420624" cy="420624"/>
          </a:xfrm>
          <a:prstGeom prst="ellipse">
            <a:avLst/>
          </a:prstGeom>
          <a:solidFill>
            <a:srgbClr val="2C5238"/>
          </a:solidFill>
          <a:ln/>
        </p:spPr>
      </p:sp>
      <p:pic>
        <p:nvPicPr>
          <p:cNvPr id="15" name="Image 3" descr="/home/claude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30" y="4618086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46227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system connects plantation activity with measurable impact.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7452360" y="2651760"/>
            <a:ext cx="1234440" cy="1737360"/>
          </a:xfrm>
          <a:prstGeom prst="roundRect">
            <a:avLst>
              <a:gd name="adj" fmla="val 7407"/>
            </a:avLst>
          </a:prstGeom>
          <a:solidFill>
            <a:srgbClr val="2C5238"/>
          </a:solidFill>
          <a:ln/>
        </p:spPr>
      </p:sp>
      <p:sp>
        <p:nvSpPr>
          <p:cNvPr id="18" name="Text 12"/>
          <p:cNvSpPr/>
          <p:nvPr/>
        </p:nvSpPr>
        <p:spPr>
          <a:xfrm>
            <a:off x="7507224" y="2788920"/>
            <a:ext cx="1124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525512" y="3200400"/>
            <a:ext cx="10881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plantation claims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705088" y="3401568"/>
            <a:ext cx="219456" cy="256032"/>
          </a:xfrm>
          <a:prstGeom prst="rightArrow">
            <a:avLst/>
          </a:prstGeom>
          <a:solidFill>
            <a:srgbClr val="BFD2B8"/>
          </a:solidFill>
          <a:ln/>
        </p:spPr>
      </p:sp>
      <p:sp>
        <p:nvSpPr>
          <p:cNvPr id="21" name="Shape 15"/>
          <p:cNvSpPr/>
          <p:nvPr/>
        </p:nvSpPr>
        <p:spPr>
          <a:xfrm>
            <a:off x="8942832" y="2651760"/>
            <a:ext cx="1234440" cy="1737360"/>
          </a:xfrm>
          <a:prstGeom prst="roundRect">
            <a:avLst>
              <a:gd name="adj" fmla="val 7407"/>
            </a:avLst>
          </a:prstGeom>
          <a:solidFill>
            <a:srgbClr val="6B9362"/>
          </a:solidFill>
          <a:ln/>
        </p:spPr>
      </p:sp>
      <p:sp>
        <p:nvSpPr>
          <p:cNvPr id="22" name="Text 16"/>
          <p:cNvSpPr/>
          <p:nvPr/>
        </p:nvSpPr>
        <p:spPr>
          <a:xfrm>
            <a:off x="8997696" y="2788920"/>
            <a:ext cx="1124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15984" y="3200400"/>
            <a:ext cx="10881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trust, data, or tracking layer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10195560" y="3401568"/>
            <a:ext cx="219456" cy="256032"/>
          </a:xfrm>
          <a:prstGeom prst="rightArrow">
            <a:avLst/>
          </a:prstGeom>
          <a:solidFill>
            <a:srgbClr val="BFD2B8"/>
          </a:solidFill>
          <a:ln/>
        </p:spPr>
      </p:sp>
      <p:sp>
        <p:nvSpPr>
          <p:cNvPr id="25" name="Shape 19"/>
          <p:cNvSpPr/>
          <p:nvPr/>
        </p:nvSpPr>
        <p:spPr>
          <a:xfrm>
            <a:off x="10433304" y="2651760"/>
            <a:ext cx="1234440" cy="1737360"/>
          </a:xfrm>
          <a:prstGeom prst="roundRect">
            <a:avLst>
              <a:gd name="adj" fmla="val 7407"/>
            </a:avLst>
          </a:prstGeom>
          <a:solidFill>
            <a:srgbClr val="C97A1A"/>
          </a:solidFill>
          <a:ln/>
        </p:spPr>
      </p:sp>
      <p:sp>
        <p:nvSpPr>
          <p:cNvPr id="26" name="Text 20"/>
          <p:cNvSpPr/>
          <p:nvPr/>
        </p:nvSpPr>
        <p:spPr>
          <a:xfrm>
            <a:off x="10488168" y="2788920"/>
            <a:ext cx="1124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0506456" y="3200400"/>
            <a:ext cx="10881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verified, trackable system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452360" y="4617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452360" y="49377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Reforestation efforts fail without accountability — this deck presents a platform that closes that gap end to end.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|  College  |  Course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from planning to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community-driven plantation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455202" cy="960120"/>
          </a:xfrm>
          <a:prstGeom prst="roundRect">
            <a:avLst>
              <a:gd name="adj" fmla="val 7619"/>
            </a:avLst>
          </a:prstGeom>
          <a:solidFill>
            <a:srgbClr val="1F3D2B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5179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14552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12986" y="1860804"/>
            <a:ext cx="128016" cy="164592"/>
          </a:xfrm>
          <a:prstGeom prst="rightArrow">
            <a:avLst/>
          </a:prstGeom>
          <a:solidFill>
            <a:srgbClr val="B9C7AF"/>
          </a:solidFill>
          <a:ln/>
        </p:spPr>
      </p:sp>
      <p:sp>
        <p:nvSpPr>
          <p:cNvPr id="8" name="Shape 6"/>
          <p:cNvSpPr/>
          <p:nvPr/>
        </p:nvSpPr>
        <p:spPr>
          <a:xfrm>
            <a:off x="2150146" y="1463040"/>
            <a:ext cx="1455202" cy="960120"/>
          </a:xfrm>
          <a:prstGeom prst="roundRect">
            <a:avLst>
              <a:gd name="adj" fmla="val 7619"/>
            </a:avLst>
          </a:prstGeom>
          <a:solidFill>
            <a:srgbClr val="6B9362"/>
          </a:solidFill>
          <a:ln/>
        </p:spPr>
      </p:sp>
      <p:sp>
        <p:nvSpPr>
          <p:cNvPr id="9" name="Text 7"/>
          <p:cNvSpPr/>
          <p:nvPr/>
        </p:nvSpPr>
        <p:spPr>
          <a:xfrm>
            <a:off x="2223298" y="15179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50146" y="1719072"/>
            <a:ext cx="14552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14493" y="1860804"/>
            <a:ext cx="128016" cy="164592"/>
          </a:xfrm>
          <a:prstGeom prst="rightArrow">
            <a:avLst/>
          </a:prstGeom>
          <a:solidFill>
            <a:srgbClr val="B9C7AF"/>
          </a:solidFill>
          <a:ln/>
        </p:spPr>
      </p:sp>
      <p:sp>
        <p:nvSpPr>
          <p:cNvPr id="12" name="Shape 10"/>
          <p:cNvSpPr/>
          <p:nvPr/>
        </p:nvSpPr>
        <p:spPr>
          <a:xfrm>
            <a:off x="3751653" y="1463040"/>
            <a:ext cx="1455202" cy="960120"/>
          </a:xfrm>
          <a:prstGeom prst="roundRect">
            <a:avLst>
              <a:gd name="adj" fmla="val 7619"/>
            </a:avLst>
          </a:prstGeom>
          <a:solidFill>
            <a:srgbClr val="1F3D2B"/>
          </a:solidFill>
          <a:ln/>
        </p:spPr>
      </p:sp>
      <p:sp>
        <p:nvSpPr>
          <p:cNvPr id="13" name="Text 11"/>
          <p:cNvSpPr/>
          <p:nvPr/>
        </p:nvSpPr>
        <p:spPr>
          <a:xfrm>
            <a:off x="3824805" y="15179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51653" y="1719072"/>
            <a:ext cx="14552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15999" y="1860804"/>
            <a:ext cx="128016" cy="164592"/>
          </a:xfrm>
          <a:prstGeom prst="rightArrow">
            <a:avLst/>
          </a:prstGeom>
          <a:solidFill>
            <a:srgbClr val="B9C7AF"/>
          </a:solidFill>
          <a:ln/>
        </p:spPr>
      </p:sp>
      <p:sp>
        <p:nvSpPr>
          <p:cNvPr id="16" name="Shape 14"/>
          <p:cNvSpPr/>
          <p:nvPr/>
        </p:nvSpPr>
        <p:spPr>
          <a:xfrm>
            <a:off x="5353159" y="1463040"/>
            <a:ext cx="1455202" cy="960120"/>
          </a:xfrm>
          <a:prstGeom prst="roundRect">
            <a:avLst>
              <a:gd name="adj" fmla="val 7619"/>
            </a:avLst>
          </a:prstGeom>
          <a:solidFill>
            <a:srgbClr val="6B9362"/>
          </a:solidFill>
          <a:ln/>
        </p:spPr>
      </p:sp>
      <p:sp>
        <p:nvSpPr>
          <p:cNvPr id="17" name="Text 15"/>
          <p:cNvSpPr/>
          <p:nvPr/>
        </p:nvSpPr>
        <p:spPr>
          <a:xfrm>
            <a:off x="5426311" y="15179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53159" y="1719072"/>
            <a:ext cx="14552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17505" y="1860804"/>
            <a:ext cx="128016" cy="164592"/>
          </a:xfrm>
          <a:prstGeom prst="rightArrow">
            <a:avLst/>
          </a:prstGeom>
          <a:solidFill>
            <a:srgbClr val="B9C7AF"/>
          </a:solidFill>
          <a:ln/>
        </p:spPr>
      </p:sp>
      <p:sp>
        <p:nvSpPr>
          <p:cNvPr id="20" name="Shape 18"/>
          <p:cNvSpPr/>
          <p:nvPr/>
        </p:nvSpPr>
        <p:spPr>
          <a:xfrm>
            <a:off x="6954665" y="1463040"/>
            <a:ext cx="1455202" cy="960120"/>
          </a:xfrm>
          <a:prstGeom prst="roundRect">
            <a:avLst>
              <a:gd name="adj" fmla="val 7619"/>
            </a:avLst>
          </a:prstGeom>
          <a:solidFill>
            <a:srgbClr val="1F3D2B"/>
          </a:solidFill>
          <a:ln/>
        </p:spPr>
      </p:sp>
      <p:sp>
        <p:nvSpPr>
          <p:cNvPr id="21" name="Text 19"/>
          <p:cNvSpPr/>
          <p:nvPr/>
        </p:nvSpPr>
        <p:spPr>
          <a:xfrm>
            <a:off x="7027817" y="15179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54665" y="1719072"/>
            <a:ext cx="14552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9011" y="1860804"/>
            <a:ext cx="128016" cy="164592"/>
          </a:xfrm>
          <a:prstGeom prst="rightArrow">
            <a:avLst/>
          </a:prstGeom>
          <a:solidFill>
            <a:srgbClr val="B9C7AF"/>
          </a:solidFill>
          <a:ln/>
        </p:spPr>
      </p:sp>
      <p:sp>
        <p:nvSpPr>
          <p:cNvPr id="24" name="Shape 22"/>
          <p:cNvSpPr/>
          <p:nvPr/>
        </p:nvSpPr>
        <p:spPr>
          <a:xfrm>
            <a:off x="8556171" y="1463040"/>
            <a:ext cx="1455202" cy="960120"/>
          </a:xfrm>
          <a:prstGeom prst="roundRect">
            <a:avLst>
              <a:gd name="adj" fmla="val 7619"/>
            </a:avLst>
          </a:prstGeom>
          <a:solidFill>
            <a:srgbClr val="6B9362"/>
          </a:solidFill>
          <a:ln/>
        </p:spPr>
      </p:sp>
      <p:sp>
        <p:nvSpPr>
          <p:cNvPr id="25" name="Text 23"/>
          <p:cNvSpPr/>
          <p:nvPr/>
        </p:nvSpPr>
        <p:spPr>
          <a:xfrm>
            <a:off x="8629323" y="15179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56171" y="1719072"/>
            <a:ext cx="14552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020518" y="1860804"/>
            <a:ext cx="128016" cy="164592"/>
          </a:xfrm>
          <a:prstGeom prst="rightArrow">
            <a:avLst/>
          </a:prstGeom>
          <a:solidFill>
            <a:srgbClr val="B9C7A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57678" y="1463040"/>
            <a:ext cx="1455202" cy="960120"/>
          </a:xfrm>
          <a:prstGeom prst="roundRect">
            <a:avLst>
              <a:gd name="adj" fmla="val 7619"/>
            </a:avLst>
          </a:prstGeom>
          <a:solidFill>
            <a:srgbClr val="1F3D2B"/>
          </a:solidFill>
          <a:ln/>
        </p:spPr>
      </p:sp>
      <p:sp>
        <p:nvSpPr>
          <p:cNvPr id="29" name="Text 27"/>
          <p:cNvSpPr/>
          <p:nvPr/>
        </p:nvSpPr>
        <p:spPr>
          <a:xfrm>
            <a:off x="10230830" y="15179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57678" y="1719072"/>
            <a:ext cx="14552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2743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2"/>
          </a:solidFill>
          <a:ln w="12700">
            <a:solidFill>
              <a:srgbClr val="CBD8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2926080"/>
            <a:ext cx="457200" cy="457200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33" name="Image 0" descr="/home/claude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035808"/>
            <a:ext cx="237744" cy="23774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325880" y="2907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325880" y="331012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suitable land</a:t>
            </a:r>
            <a:endParaRPr lang="en-US" sz="1200" dirty="0"/>
          </a:p>
          <a:p>
            <a:pPr marL="152400" indent="-152400">
              <a:buSzPct val="100000"/>
              <a:buChar char="▪"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plantation</a:t>
            </a:r>
            <a:endParaRPr lang="en-US" sz="1200" dirty="0"/>
          </a:p>
          <a:p>
            <a:pPr marL="152400" indent="-152400">
              <a:buSzPct val="100000"/>
              <a:buChar char="▪"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trees</a:t>
            </a:r>
            <a:endParaRPr lang="en-US" sz="1200" dirty="0"/>
          </a:p>
          <a:p>
            <a:pPr marL="152400" indent="-152400">
              <a:buSzPct val="100000"/>
              <a:buChar char="▪"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health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217920" y="2743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2"/>
          </a:solidFill>
          <a:ln w="12700">
            <a:solidFill>
              <a:srgbClr val="CBD8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19088" y="2926080"/>
            <a:ext cx="457200" cy="457200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38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3035808"/>
            <a:ext cx="237744" cy="237744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995160" y="2907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/ moderator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6995160" y="331012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submissions</a:t>
            </a:r>
            <a:endParaRPr lang="en-US" sz="1200" dirty="0"/>
          </a:p>
          <a:p>
            <a:pPr marL="152400" indent="-152400">
              <a:buSzPct val="100000"/>
              <a:buChar char="▪"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plantations</a:t>
            </a:r>
            <a:endParaRPr lang="en-US" sz="1200" dirty="0"/>
          </a:p>
          <a:p>
            <a:pPr marL="152400" indent="-152400">
              <a:buSzPct val="100000"/>
              <a:buChar char="▪"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reports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54864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workflow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548640" y="4846320"/>
            <a:ext cx="1287018" cy="1234440"/>
          </a:xfrm>
          <a:prstGeom prst="roundRect">
            <a:avLst>
              <a:gd name="adj" fmla="val 4444"/>
            </a:avLst>
          </a:prstGeom>
          <a:solidFill>
            <a:srgbClr val="EAF1E4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76072" y="4846320"/>
            <a:ext cx="123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1840230" y="5399532"/>
            <a:ext cx="100584" cy="128016"/>
          </a:xfrm>
          <a:prstGeom prst="rightArrow">
            <a:avLst/>
          </a:prstGeom>
          <a:solidFill>
            <a:srgbClr val="AFC0A5"/>
          </a:solidFill>
          <a:ln/>
        </p:spPr>
      </p:sp>
      <p:sp>
        <p:nvSpPr>
          <p:cNvPr id="45" name="Shape 41"/>
          <p:cNvSpPr/>
          <p:nvPr/>
        </p:nvSpPr>
        <p:spPr>
          <a:xfrm>
            <a:off x="1945386" y="4846320"/>
            <a:ext cx="1287018" cy="1234440"/>
          </a:xfrm>
          <a:prstGeom prst="roundRect">
            <a:avLst>
              <a:gd name="adj" fmla="val 4444"/>
            </a:avLst>
          </a:prstGeom>
          <a:solidFill>
            <a:srgbClr val="DCE8D3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972818" y="4846320"/>
            <a:ext cx="123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3236976" y="5399532"/>
            <a:ext cx="100584" cy="128016"/>
          </a:xfrm>
          <a:prstGeom prst="rightArrow">
            <a:avLst/>
          </a:prstGeom>
          <a:solidFill>
            <a:srgbClr val="AFC0A5"/>
          </a:solidFill>
          <a:ln/>
        </p:spPr>
      </p:sp>
      <p:sp>
        <p:nvSpPr>
          <p:cNvPr id="48" name="Shape 44"/>
          <p:cNvSpPr/>
          <p:nvPr/>
        </p:nvSpPr>
        <p:spPr>
          <a:xfrm>
            <a:off x="3342132" y="4846320"/>
            <a:ext cx="1287018" cy="1234440"/>
          </a:xfrm>
          <a:prstGeom prst="roundRect">
            <a:avLst>
              <a:gd name="adj" fmla="val 4444"/>
            </a:avLst>
          </a:prstGeom>
          <a:solidFill>
            <a:srgbClr val="EAF1E4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369564" y="4846320"/>
            <a:ext cx="123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4633722" y="5399532"/>
            <a:ext cx="100584" cy="128016"/>
          </a:xfrm>
          <a:prstGeom prst="rightArrow">
            <a:avLst/>
          </a:prstGeom>
          <a:solidFill>
            <a:srgbClr val="AFC0A5"/>
          </a:solidFill>
          <a:ln/>
        </p:spPr>
      </p:sp>
      <p:sp>
        <p:nvSpPr>
          <p:cNvPr id="51" name="Shape 47"/>
          <p:cNvSpPr/>
          <p:nvPr/>
        </p:nvSpPr>
        <p:spPr>
          <a:xfrm>
            <a:off x="4738878" y="4846320"/>
            <a:ext cx="1287018" cy="1234440"/>
          </a:xfrm>
          <a:prstGeom prst="roundRect">
            <a:avLst>
              <a:gd name="adj" fmla="val 4444"/>
            </a:avLst>
          </a:prstGeom>
          <a:solidFill>
            <a:srgbClr val="DCE8D3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766310" y="4846320"/>
            <a:ext cx="123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050" dirty="0"/>
          </a:p>
        </p:txBody>
      </p:sp>
      <p:sp>
        <p:nvSpPr>
          <p:cNvPr id="53" name="Shape 49"/>
          <p:cNvSpPr/>
          <p:nvPr/>
        </p:nvSpPr>
        <p:spPr>
          <a:xfrm>
            <a:off x="6030468" y="5399532"/>
            <a:ext cx="100584" cy="128016"/>
          </a:xfrm>
          <a:prstGeom prst="rightArrow">
            <a:avLst/>
          </a:prstGeom>
          <a:solidFill>
            <a:srgbClr val="AFC0A5"/>
          </a:solidFill>
          <a:ln/>
        </p:spPr>
      </p:sp>
      <p:sp>
        <p:nvSpPr>
          <p:cNvPr id="54" name="Shape 50"/>
          <p:cNvSpPr/>
          <p:nvPr/>
        </p:nvSpPr>
        <p:spPr>
          <a:xfrm>
            <a:off x="6135624" y="4846320"/>
            <a:ext cx="1287018" cy="1234440"/>
          </a:xfrm>
          <a:prstGeom prst="roundRect">
            <a:avLst>
              <a:gd name="adj" fmla="val 4444"/>
            </a:avLst>
          </a:prstGeom>
          <a:solidFill>
            <a:srgbClr val="C97A1A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163056" y="4846320"/>
            <a:ext cx="123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56" name="Shape 52"/>
          <p:cNvSpPr/>
          <p:nvPr/>
        </p:nvSpPr>
        <p:spPr>
          <a:xfrm>
            <a:off x="7427214" y="5399532"/>
            <a:ext cx="100584" cy="128016"/>
          </a:xfrm>
          <a:prstGeom prst="rightArrow">
            <a:avLst/>
          </a:prstGeom>
          <a:solidFill>
            <a:srgbClr val="AFC0A5"/>
          </a:solidFill>
          <a:ln/>
        </p:spPr>
      </p:sp>
      <p:sp>
        <p:nvSpPr>
          <p:cNvPr id="57" name="Shape 53"/>
          <p:cNvSpPr/>
          <p:nvPr/>
        </p:nvSpPr>
        <p:spPr>
          <a:xfrm>
            <a:off x="7532370" y="4846320"/>
            <a:ext cx="1287018" cy="1234440"/>
          </a:xfrm>
          <a:prstGeom prst="roundRect">
            <a:avLst>
              <a:gd name="adj" fmla="val 4444"/>
            </a:avLst>
          </a:prstGeom>
          <a:solidFill>
            <a:srgbClr val="DCE8D3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7559802" y="4846320"/>
            <a:ext cx="123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ID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050" dirty="0"/>
          </a:p>
        </p:txBody>
      </p:sp>
      <p:sp>
        <p:nvSpPr>
          <p:cNvPr id="59" name="Shape 55"/>
          <p:cNvSpPr/>
          <p:nvPr/>
        </p:nvSpPr>
        <p:spPr>
          <a:xfrm>
            <a:off x="8823960" y="5399532"/>
            <a:ext cx="100584" cy="128016"/>
          </a:xfrm>
          <a:prstGeom prst="rightArrow">
            <a:avLst/>
          </a:prstGeom>
          <a:solidFill>
            <a:srgbClr val="AFC0A5"/>
          </a:solidFill>
          <a:ln/>
        </p:spPr>
      </p:sp>
      <p:sp>
        <p:nvSpPr>
          <p:cNvPr id="60" name="Shape 56"/>
          <p:cNvSpPr/>
          <p:nvPr/>
        </p:nvSpPr>
        <p:spPr>
          <a:xfrm>
            <a:off x="8929116" y="4846320"/>
            <a:ext cx="1287018" cy="1234440"/>
          </a:xfrm>
          <a:prstGeom prst="roundRect">
            <a:avLst>
              <a:gd name="adj" fmla="val 4444"/>
            </a:avLst>
          </a:prstGeom>
          <a:solidFill>
            <a:srgbClr val="EAF1E4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8956548" y="4846320"/>
            <a:ext cx="123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10220706" y="5399532"/>
            <a:ext cx="100584" cy="128016"/>
          </a:xfrm>
          <a:prstGeom prst="rightArrow">
            <a:avLst/>
          </a:prstGeom>
          <a:solidFill>
            <a:srgbClr val="AFC0A5"/>
          </a:solidFill>
          <a:ln/>
        </p:spPr>
      </p:sp>
      <p:sp>
        <p:nvSpPr>
          <p:cNvPr id="63" name="Shape 59"/>
          <p:cNvSpPr/>
          <p:nvPr/>
        </p:nvSpPr>
        <p:spPr>
          <a:xfrm>
            <a:off x="10325862" y="4846320"/>
            <a:ext cx="1287018" cy="1234440"/>
          </a:xfrm>
          <a:prstGeom prst="roundRect">
            <a:avLst>
              <a:gd name="adj" fmla="val 4444"/>
            </a:avLst>
          </a:prstGeom>
          <a:solidFill>
            <a:srgbClr val="DCE8D3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10353294" y="4846320"/>
            <a:ext cx="123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050" dirty="0"/>
          </a:p>
        </p:txBody>
      </p:sp>
      <p:sp>
        <p:nvSpPr>
          <p:cNvPr id="65" name="Text 6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planting — is this location suitable?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4F7F2"/>
          </a:solidFill>
          <a:ln w="12700">
            <a:solidFill>
              <a:srgbClr val="CBD8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map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6" name="Image 0" descr="/home/claude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852" y="192097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plantation location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2414016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9" name="Image 1" descr="/home/claude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2" y="2506188"/>
            <a:ext cx="199705" cy="1997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3682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 &amp; permission information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68680" y="2999232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12" name="Image 2" descr="/home/claude/icon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52" y="3091404"/>
            <a:ext cx="199705" cy="1997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9535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areas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68680" y="3584448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15" name="Image 3" descr="/home/claude/icons/drop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852" y="3676620"/>
            <a:ext cx="199705" cy="19970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5387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availability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68680" y="4169664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18" name="Image 4" descr="/home/claude/icons/su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2" y="4261836"/>
            <a:ext cx="199705" cy="19970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1239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exposure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868680" y="4754880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21" name="Image 5" descr="/home/claude/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847052"/>
            <a:ext cx="199705" cy="19970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1600" y="4709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&amp; climate conditions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5897880" y="1143000"/>
            <a:ext cx="5742432" cy="4480560"/>
          </a:xfrm>
          <a:prstGeom prst="roundRect">
            <a:avLst>
              <a:gd name="adj" fmla="val 2041"/>
            </a:avLst>
          </a:prstGeom>
          <a:solidFill>
            <a:srgbClr val="1F3D2B"/>
          </a:solidFill>
          <a:ln/>
        </p:spPr>
      </p:sp>
      <p:sp>
        <p:nvSpPr>
          <p:cNvPr id="24" name="Text 16"/>
          <p:cNvSpPr/>
          <p:nvPr/>
        </p:nvSpPr>
        <p:spPr>
          <a:xfrm>
            <a:off x="617220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suitability score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172200" y="17830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environmental &amp; geographical data feeds backend rules to produce one score.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172200" y="2514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2C5238"/>
          </a:solidFill>
          <a:ln/>
        </p:spPr>
      </p:sp>
      <p:sp>
        <p:nvSpPr>
          <p:cNvPr id="27" name="Shape 19"/>
          <p:cNvSpPr/>
          <p:nvPr/>
        </p:nvSpPr>
        <p:spPr>
          <a:xfrm>
            <a:off x="6702552" y="2679192"/>
            <a:ext cx="493776" cy="493776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28" name="Image 6" descr="/home/claude/icons/glo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1058" y="2797698"/>
            <a:ext cx="256764" cy="25676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17220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7781544" y="3108960"/>
            <a:ext cx="393192" cy="182880"/>
          </a:xfrm>
          <a:prstGeom prst="rightArrow">
            <a:avLst/>
          </a:prstGeom>
          <a:solidFill>
            <a:srgbClr val="9FB39A"/>
          </a:solidFill>
          <a:ln/>
        </p:spPr>
      </p:sp>
      <p:sp>
        <p:nvSpPr>
          <p:cNvPr id="31" name="Shape 22"/>
          <p:cNvSpPr/>
          <p:nvPr/>
        </p:nvSpPr>
        <p:spPr>
          <a:xfrm>
            <a:off x="8229600" y="2514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2C5238"/>
          </a:solidFill>
          <a:ln/>
        </p:spPr>
      </p:sp>
      <p:sp>
        <p:nvSpPr>
          <p:cNvPr id="32" name="Shape 23"/>
          <p:cNvSpPr/>
          <p:nvPr/>
        </p:nvSpPr>
        <p:spPr>
          <a:xfrm>
            <a:off x="8759952" y="2679192"/>
            <a:ext cx="493776" cy="493776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33" name="Image 7" descr="/home/claude/icons/cloudr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8458" y="2797698"/>
            <a:ext cx="256764" cy="25676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2960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9838944" y="3108960"/>
            <a:ext cx="393192" cy="182880"/>
          </a:xfrm>
          <a:prstGeom prst="rightArrow">
            <a:avLst/>
          </a:prstGeom>
          <a:solidFill>
            <a:srgbClr val="9FB39A"/>
          </a:solidFill>
          <a:ln/>
        </p:spPr>
      </p:sp>
      <p:sp>
        <p:nvSpPr>
          <p:cNvPr id="36" name="Shape 26"/>
          <p:cNvSpPr/>
          <p:nvPr/>
        </p:nvSpPr>
        <p:spPr>
          <a:xfrm>
            <a:off x="10287000" y="2514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C97A1A"/>
          </a:solidFill>
          <a:ln/>
        </p:spPr>
      </p:sp>
      <p:sp>
        <p:nvSpPr>
          <p:cNvPr id="37" name="Shape 27"/>
          <p:cNvSpPr/>
          <p:nvPr/>
        </p:nvSpPr>
        <p:spPr>
          <a:xfrm>
            <a:off x="10817352" y="2679192"/>
            <a:ext cx="493776" cy="493776"/>
          </a:xfrm>
          <a:prstGeom prst="ellipse">
            <a:avLst/>
          </a:prstGeom>
          <a:solidFill>
            <a:srgbClr val="A8620F"/>
          </a:solidFill>
          <a:ln/>
        </p:spPr>
      </p:sp>
      <p:pic>
        <p:nvPicPr>
          <p:cNvPr id="38" name="Image 8" descr="/home/claude/icons/check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35858" y="2797698"/>
            <a:ext cx="256764" cy="25676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028700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6172200" y="41605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combines permission status, water access, sun exposure, soil quality, and climate fit into one recommendation before a single seed goes in the ground.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→ prove → verify → identify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Plantation submission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2C5238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709928"/>
            <a:ext cx="347472" cy="347472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6" name="Image 0" descr="/home/claude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1793321"/>
            <a:ext cx="180685" cy="1806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2121408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56816" y="160020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2C5238"/>
          </a:solidFill>
          <a:ln/>
        </p:spPr>
      </p:sp>
      <p:sp>
        <p:nvSpPr>
          <p:cNvPr id="9" name="Shape 6"/>
          <p:cNvSpPr/>
          <p:nvPr/>
        </p:nvSpPr>
        <p:spPr>
          <a:xfrm>
            <a:off x="2432304" y="1709928"/>
            <a:ext cx="347472" cy="347472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10" name="Image 1" descr="/home/claude/icons/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697" y="1793321"/>
            <a:ext cx="180685" cy="1806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93392" y="2121408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64992" y="160020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2C5238"/>
          </a:solidFill>
          <a:ln/>
        </p:spPr>
      </p:sp>
      <p:sp>
        <p:nvSpPr>
          <p:cNvPr id="13" name="Shape 9"/>
          <p:cNvSpPr/>
          <p:nvPr/>
        </p:nvSpPr>
        <p:spPr>
          <a:xfrm>
            <a:off x="3840480" y="1709928"/>
            <a:ext cx="347472" cy="347472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14" name="Image 2" descr="/home/claude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873" y="1793321"/>
            <a:ext cx="180685" cy="18068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01568" y="2121408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date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73168" y="160020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2C5238"/>
          </a:solidFill>
          <a:ln/>
        </p:spPr>
      </p:sp>
      <p:sp>
        <p:nvSpPr>
          <p:cNvPr id="17" name="Shape 12"/>
          <p:cNvSpPr/>
          <p:nvPr/>
        </p:nvSpPr>
        <p:spPr>
          <a:xfrm>
            <a:off x="5248656" y="1709928"/>
            <a:ext cx="347472" cy="347472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18" name="Image 3" descr="/home/claude/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049" y="1793321"/>
            <a:ext cx="180685" cy="1806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9744" y="2121408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evidence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2880360"/>
            <a:ext cx="1293876" cy="868680"/>
          </a:xfrm>
          <a:prstGeom prst="roundRect">
            <a:avLst>
              <a:gd name="adj" fmla="val 6316"/>
            </a:avLst>
          </a:prstGeom>
          <a:solidFill>
            <a:srgbClr val="2C5238"/>
          </a:solidFill>
          <a:ln/>
        </p:spPr>
      </p:sp>
      <p:sp>
        <p:nvSpPr>
          <p:cNvPr id="21" name="Text 15"/>
          <p:cNvSpPr/>
          <p:nvPr/>
        </p:nvSpPr>
        <p:spPr>
          <a:xfrm>
            <a:off x="576072" y="2880360"/>
            <a:ext cx="12390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1847088" y="3250692"/>
            <a:ext cx="155448" cy="128016"/>
          </a:xfrm>
          <a:prstGeom prst="rightArrow">
            <a:avLst/>
          </a:prstGeom>
          <a:solidFill>
            <a:srgbClr val="9FB39A"/>
          </a:solidFill>
          <a:ln/>
        </p:spPr>
      </p:sp>
      <p:sp>
        <p:nvSpPr>
          <p:cNvPr id="23" name="Shape 17"/>
          <p:cNvSpPr/>
          <p:nvPr/>
        </p:nvSpPr>
        <p:spPr>
          <a:xfrm>
            <a:off x="2007108" y="2880360"/>
            <a:ext cx="1293876" cy="868680"/>
          </a:xfrm>
          <a:prstGeom prst="roundRect">
            <a:avLst>
              <a:gd name="adj" fmla="val 6316"/>
            </a:avLst>
          </a:prstGeom>
          <a:solidFill>
            <a:srgbClr val="2C5238"/>
          </a:solidFill>
          <a:ln/>
        </p:spPr>
      </p:sp>
      <p:sp>
        <p:nvSpPr>
          <p:cNvPr id="24" name="Text 18"/>
          <p:cNvSpPr/>
          <p:nvPr/>
        </p:nvSpPr>
        <p:spPr>
          <a:xfrm>
            <a:off x="2034540" y="2880360"/>
            <a:ext cx="12390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305556" y="3250692"/>
            <a:ext cx="155448" cy="128016"/>
          </a:xfrm>
          <a:prstGeom prst="rightArrow">
            <a:avLst/>
          </a:prstGeom>
          <a:solidFill>
            <a:srgbClr val="9FB39A"/>
          </a:solidFill>
          <a:ln/>
        </p:spPr>
      </p:sp>
      <p:sp>
        <p:nvSpPr>
          <p:cNvPr id="26" name="Shape 20"/>
          <p:cNvSpPr/>
          <p:nvPr/>
        </p:nvSpPr>
        <p:spPr>
          <a:xfrm>
            <a:off x="3465576" y="2880360"/>
            <a:ext cx="1293876" cy="868680"/>
          </a:xfrm>
          <a:prstGeom prst="roundRect">
            <a:avLst>
              <a:gd name="adj" fmla="val 6316"/>
            </a:avLst>
          </a:prstGeom>
          <a:solidFill>
            <a:srgbClr val="2C5238"/>
          </a:solidFill>
          <a:ln/>
        </p:spPr>
      </p:sp>
      <p:sp>
        <p:nvSpPr>
          <p:cNvPr id="27" name="Text 21"/>
          <p:cNvSpPr/>
          <p:nvPr/>
        </p:nvSpPr>
        <p:spPr>
          <a:xfrm>
            <a:off x="3493008" y="2880360"/>
            <a:ext cx="12390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764024" y="3250692"/>
            <a:ext cx="155448" cy="128016"/>
          </a:xfrm>
          <a:prstGeom prst="rightArrow">
            <a:avLst/>
          </a:prstGeom>
          <a:solidFill>
            <a:srgbClr val="9FB39A"/>
          </a:solidFill>
          <a:ln/>
        </p:spPr>
      </p:sp>
      <p:sp>
        <p:nvSpPr>
          <p:cNvPr id="29" name="Shape 23"/>
          <p:cNvSpPr/>
          <p:nvPr/>
        </p:nvSpPr>
        <p:spPr>
          <a:xfrm>
            <a:off x="4924044" y="2880360"/>
            <a:ext cx="1293876" cy="868680"/>
          </a:xfrm>
          <a:prstGeom prst="roundRect">
            <a:avLst>
              <a:gd name="adj" fmla="val 6316"/>
            </a:avLst>
          </a:prstGeom>
          <a:solidFill>
            <a:srgbClr val="C97A1A"/>
          </a:solidFill>
          <a:ln/>
        </p:spPr>
      </p:sp>
      <p:sp>
        <p:nvSpPr>
          <p:cNvPr id="30" name="Text 24"/>
          <p:cNvSpPr/>
          <p:nvPr/>
        </p:nvSpPr>
        <p:spPr>
          <a:xfrm>
            <a:off x="4951476" y="2880360"/>
            <a:ext cx="12390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tree identity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548640" y="452628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plantation receives a unique tree ID, a QR code, and a public tree profile.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94360" y="5221224"/>
            <a:ext cx="73152" cy="73152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34" name="Text 28"/>
          <p:cNvSpPr/>
          <p:nvPr/>
        </p:nvSpPr>
        <p:spPr>
          <a:xfrm>
            <a:off x="777240" y="51114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94360" y="5541264"/>
            <a:ext cx="73152" cy="73152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36" name="Text 30"/>
          <p:cNvSpPr/>
          <p:nvPr/>
        </p:nvSpPr>
        <p:spPr>
          <a:xfrm>
            <a:off x="777240" y="54315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status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94360" y="5861304"/>
            <a:ext cx="73152" cy="73152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38" name="Text 32"/>
          <p:cNvSpPr/>
          <p:nvPr/>
        </p:nvSpPr>
        <p:spPr>
          <a:xfrm>
            <a:off x="777240" y="57515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date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3429000" y="5221224"/>
            <a:ext cx="73152" cy="73152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40" name="Text 34"/>
          <p:cNvSpPr/>
          <p:nvPr/>
        </p:nvSpPr>
        <p:spPr>
          <a:xfrm>
            <a:off x="3611880" y="51114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health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3429000" y="5541264"/>
            <a:ext cx="73152" cy="73152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42" name="Text 36"/>
          <p:cNvSpPr/>
          <p:nvPr/>
        </p:nvSpPr>
        <p:spPr>
          <a:xfrm>
            <a:off x="3611880" y="54315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7863840" y="1097280"/>
            <a:ext cx="3291840" cy="5212080"/>
          </a:xfrm>
          <a:prstGeom prst="roundRect">
            <a:avLst>
              <a:gd name="adj" fmla="val 6944"/>
            </a:avLst>
          </a:prstGeom>
          <a:solidFill>
            <a:srgbClr val="0F2419"/>
          </a:solidFill>
          <a:ln w="19050">
            <a:solidFill>
              <a:srgbClr val="6B9362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7973568" y="1325880"/>
            <a:ext cx="3072384" cy="47548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45" name="Shape 39"/>
          <p:cNvSpPr/>
          <p:nvPr/>
        </p:nvSpPr>
        <p:spPr>
          <a:xfrm>
            <a:off x="8732520" y="1600200"/>
            <a:ext cx="1554480" cy="1554480"/>
          </a:xfrm>
          <a:prstGeom prst="roundRect">
            <a:avLst>
              <a:gd name="adj" fmla="val 3529"/>
            </a:avLst>
          </a:prstGeom>
          <a:solidFill>
            <a:srgbClr val="F4F7F2"/>
          </a:solidFill>
          <a:ln w="12700">
            <a:solidFill>
              <a:srgbClr val="CBD8C4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9006840" y="1874520"/>
            <a:ext cx="1005840" cy="1005840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47" name="Image 4" descr="/home/claude/icons/q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242" y="2115922"/>
            <a:ext cx="523037" cy="523037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8046720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ID · GP-2026-00417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9006840" y="36118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E8D3"/>
          </a:solidFill>
          <a:ln/>
        </p:spPr>
      </p:sp>
      <p:sp>
        <p:nvSpPr>
          <p:cNvPr id="50" name="Text 43"/>
          <p:cNvSpPr/>
          <p:nvPr/>
        </p:nvSpPr>
        <p:spPr>
          <a:xfrm>
            <a:off x="9006840" y="36118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</p:txBody>
      </p:sp>
      <p:sp>
        <p:nvSpPr>
          <p:cNvPr id="51" name="Text 44"/>
          <p:cNvSpPr/>
          <p:nvPr/>
        </p:nvSpPr>
        <p:spPr>
          <a:xfrm>
            <a:off x="8092440" y="4069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9326880" y="4069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8092440" y="43982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</a:t>
            </a:r>
            <a:endParaRPr lang="en-US" sz="1000" dirty="0"/>
          </a:p>
        </p:txBody>
      </p:sp>
      <p:sp>
        <p:nvSpPr>
          <p:cNvPr id="54" name="Text 47"/>
          <p:cNvSpPr/>
          <p:nvPr/>
        </p:nvSpPr>
        <p:spPr>
          <a:xfrm>
            <a:off x="9326880" y="439826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Jun 2026</a:t>
            </a:r>
            <a:endParaRPr lang="en-US" sz="1000" dirty="0"/>
          </a:p>
        </p:txBody>
      </p:sp>
      <p:sp>
        <p:nvSpPr>
          <p:cNvPr id="55" name="Text 48"/>
          <p:cNvSpPr/>
          <p:nvPr/>
        </p:nvSpPr>
        <p:spPr>
          <a:xfrm>
            <a:off x="8092440" y="47274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9326880" y="47274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Sharma</a:t>
            </a:r>
            <a:endParaRPr lang="en-US" sz="1000" dirty="0"/>
          </a:p>
        </p:txBody>
      </p:sp>
      <p:sp>
        <p:nvSpPr>
          <p:cNvPr id="57" name="Text 50"/>
          <p:cNvSpPr/>
          <p:nvPr/>
        </p:nvSpPr>
        <p:spPr>
          <a:xfrm>
            <a:off x="8092440" y="50566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58" name="Text 51"/>
          <p:cNvSpPr/>
          <p:nvPr/>
        </p:nvSpPr>
        <p:spPr>
          <a:xfrm>
            <a:off x="9326880" y="5056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sp>
        <p:nvSpPr>
          <p:cNvPr id="59" name="Text 52"/>
          <p:cNvSpPr/>
          <p:nvPr/>
        </p:nvSpPr>
        <p:spPr>
          <a:xfrm>
            <a:off x="7863840" y="5925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tree profile</a:t>
            </a:r>
            <a:endParaRPr lang="en-US" sz="1050" dirty="0"/>
          </a:p>
        </p:txBody>
      </p:sp>
      <p:sp>
        <p:nvSpPr>
          <p:cNvPr id="60" name="Text 5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planting — monitor &amp; measure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7F2"/>
          </a:solidFill>
          <a:ln w="12700">
            <a:solidFill>
              <a:srgbClr val="CBD8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health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365760" cy="365760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6" name="Image 0" descr="/home/claude/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1825142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6916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health updates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2304288"/>
            <a:ext cx="365760" cy="365760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9" name="Image 1" descr="/home/claude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392070"/>
            <a:ext cx="190195" cy="1901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22585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growth history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68680" y="2871216"/>
            <a:ext cx="365760" cy="365760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12" name="Image 2" descr="/home/claude/icons/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" y="2958998"/>
            <a:ext cx="190195" cy="1901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282549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can report visible problems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68680" y="3438144"/>
            <a:ext cx="365760" cy="365760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15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" y="3525926"/>
            <a:ext cx="190195" cy="1901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53312" y="33924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owner reviews reports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68680" y="4279392"/>
            <a:ext cx="219456" cy="219456"/>
          </a:xfrm>
          <a:prstGeom prst="ellipse">
            <a:avLst/>
          </a:prstGeom>
          <a:solidFill>
            <a:srgbClr val="3CA35A"/>
          </a:solidFill>
          <a:ln/>
        </p:spPr>
      </p:sp>
      <p:sp>
        <p:nvSpPr>
          <p:cNvPr id="18" name="Text 12"/>
          <p:cNvSpPr/>
          <p:nvPr/>
        </p:nvSpPr>
        <p:spPr>
          <a:xfrm>
            <a:off x="1207008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68680" y="4663440"/>
            <a:ext cx="219456" cy="219456"/>
          </a:xfrm>
          <a:prstGeom prst="ellipse">
            <a:avLst/>
          </a:prstGeom>
          <a:solidFill>
            <a:srgbClr val="D9A521"/>
          </a:solidFill>
          <a:ln/>
        </p:spPr>
      </p:sp>
      <p:sp>
        <p:nvSpPr>
          <p:cNvPr id="20" name="Text 14"/>
          <p:cNvSpPr/>
          <p:nvPr/>
        </p:nvSpPr>
        <p:spPr>
          <a:xfrm>
            <a:off x="1207008" y="4590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68680" y="5047488"/>
            <a:ext cx="219456" cy="219456"/>
          </a:xfrm>
          <a:prstGeom prst="ellipse">
            <a:avLst/>
          </a:prstGeom>
          <a:solidFill>
            <a:srgbClr val="C24B3F"/>
          </a:solidFill>
          <a:ln/>
        </p:spPr>
      </p:sp>
      <p:sp>
        <p:nvSpPr>
          <p:cNvPr id="22" name="Text 16"/>
          <p:cNvSpPr/>
          <p:nvPr/>
        </p:nvSpPr>
        <p:spPr>
          <a:xfrm>
            <a:off x="1207008" y="49743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68680" y="5431536"/>
            <a:ext cx="219456" cy="219456"/>
          </a:xfrm>
          <a:prstGeom prst="ellipse">
            <a:avLst/>
          </a:prstGeom>
          <a:solidFill>
            <a:srgbClr val="4B4B4B"/>
          </a:solidFill>
          <a:ln/>
        </p:spPr>
      </p:sp>
      <p:sp>
        <p:nvSpPr>
          <p:cNvPr id="24" name="Text 18"/>
          <p:cNvSpPr/>
          <p:nvPr/>
        </p:nvSpPr>
        <p:spPr>
          <a:xfrm>
            <a:off x="1207008" y="53583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6263640" y="150876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6B9362"/>
          </a:solidFill>
          <a:ln/>
        </p:spPr>
      </p:sp>
      <p:sp>
        <p:nvSpPr>
          <p:cNvPr id="27" name="Shape 21"/>
          <p:cNvSpPr/>
          <p:nvPr/>
        </p:nvSpPr>
        <p:spPr>
          <a:xfrm>
            <a:off x="6446520" y="1655064"/>
            <a:ext cx="365760" cy="36576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28" name="Image 4" descr="/home/claude/icons/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302" y="1742846"/>
            <a:ext cx="190195" cy="19019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49440" y="15087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878824" y="2185416"/>
            <a:ext cx="164592" cy="164592"/>
          </a:xfrm>
          <a:prstGeom prst="downArrow">
            <a:avLst/>
          </a:prstGeom>
          <a:solidFill>
            <a:srgbClr val="B9C7AF"/>
          </a:solidFill>
          <a:ln/>
        </p:spPr>
      </p:sp>
      <p:sp>
        <p:nvSpPr>
          <p:cNvPr id="31" name="Shape 24"/>
          <p:cNvSpPr/>
          <p:nvPr/>
        </p:nvSpPr>
        <p:spPr>
          <a:xfrm>
            <a:off x="6263640" y="236829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F3D2B"/>
          </a:solidFill>
          <a:ln/>
        </p:spPr>
      </p:sp>
      <p:sp>
        <p:nvSpPr>
          <p:cNvPr id="32" name="Shape 25"/>
          <p:cNvSpPr/>
          <p:nvPr/>
        </p:nvSpPr>
        <p:spPr>
          <a:xfrm>
            <a:off x="6446520" y="2514600"/>
            <a:ext cx="365760" cy="36576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3" name="Image 5" descr="/home/claude/icons/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302" y="2602382"/>
            <a:ext cx="190195" cy="19019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49440" y="2368296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8878824" y="3044952"/>
            <a:ext cx="164592" cy="164592"/>
          </a:xfrm>
          <a:prstGeom prst="downArrow">
            <a:avLst/>
          </a:prstGeom>
          <a:solidFill>
            <a:srgbClr val="B9C7AF"/>
          </a:solidFill>
          <a:ln/>
        </p:spPr>
      </p:sp>
      <p:sp>
        <p:nvSpPr>
          <p:cNvPr id="36" name="Shape 28"/>
          <p:cNvSpPr/>
          <p:nvPr/>
        </p:nvSpPr>
        <p:spPr>
          <a:xfrm>
            <a:off x="6263640" y="322783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2C5238"/>
          </a:solidFill>
          <a:ln/>
        </p:spPr>
      </p:sp>
      <p:sp>
        <p:nvSpPr>
          <p:cNvPr id="37" name="Shape 29"/>
          <p:cNvSpPr/>
          <p:nvPr/>
        </p:nvSpPr>
        <p:spPr>
          <a:xfrm>
            <a:off x="6446520" y="3374136"/>
            <a:ext cx="365760" cy="36576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8" name="Image 6" descr="/home/claude/icons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302" y="3461918"/>
            <a:ext cx="190195" cy="19019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949440" y="322783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8878824" y="3904488"/>
            <a:ext cx="164592" cy="164592"/>
          </a:xfrm>
          <a:prstGeom prst="downArrow">
            <a:avLst/>
          </a:prstGeom>
          <a:solidFill>
            <a:srgbClr val="B9C7AF"/>
          </a:solidFill>
          <a:ln/>
        </p:spPr>
      </p:sp>
      <p:sp>
        <p:nvSpPr>
          <p:cNvPr id="41" name="Shape 32"/>
          <p:cNvSpPr/>
          <p:nvPr/>
        </p:nvSpPr>
        <p:spPr>
          <a:xfrm>
            <a:off x="6263640" y="408736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C97A1A"/>
          </a:solidFill>
          <a:ln/>
        </p:spPr>
      </p:sp>
      <p:sp>
        <p:nvSpPr>
          <p:cNvPr id="42" name="Shape 33"/>
          <p:cNvSpPr/>
          <p:nvPr/>
        </p:nvSpPr>
        <p:spPr>
          <a:xfrm>
            <a:off x="6446520" y="4233672"/>
            <a:ext cx="365760" cy="36576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43" name="Image 7" descr="/home/claude/icons/glob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302" y="4321454"/>
            <a:ext cx="190195" cy="19019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949440" y="408736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sources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626364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6263640" y="50292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1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— maps</a:t>
            </a:r>
            <a:endParaRPr lang="en-US" sz="1100" dirty="0"/>
          </a:p>
          <a:p>
            <a:pPr marL="152400" indent="-152400">
              <a:buSzPct val="100000"/>
              <a:buChar char="▪"/>
            </a:pPr>
            <a:r>
              <a:rPr lang="en-US" sz="11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— weather</a:t>
            </a:r>
            <a:endParaRPr lang="en-US" sz="1100" dirty="0"/>
          </a:p>
          <a:p>
            <a:pPr marL="152400" indent="-152400">
              <a:buSzPct val="100000"/>
              <a:buChar char="▪"/>
            </a:pPr>
            <a:r>
              <a:rPr lang="en-US" sz="11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SoilGrids — soil</a:t>
            </a:r>
            <a:endParaRPr lang="en-US" sz="1100" dirty="0"/>
          </a:p>
          <a:p>
            <a:pPr marL="152400" indent="-152400">
              <a:buSzPct val="100000"/>
              <a:buChar char="▪"/>
            </a:pPr>
            <a:r>
              <a:rPr lang="en-US" sz="11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/ open geospatial data — land &amp; restricted areas</a:t>
            </a:r>
            <a:endParaRPr lang="en-US" sz="1100" dirty="0"/>
          </a:p>
          <a:p>
            <a:pPr marL="152400" indent="-152400">
              <a:buSzPct val="100000"/>
              <a:buChar char="▪"/>
            </a:pPr>
            <a:r>
              <a:rPr lang="en-US" sz="11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database — trees, verification, QR, health, rewards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plantation claim to measurable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2C5238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109728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C97A1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618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— functional platform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46520" y="12618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— AI-powered intelligence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environmental data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suitability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submission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ID + QR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69164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C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C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analysis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C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species recommendations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C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duplicate detection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C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2095805" cy="1234440"/>
          </a:xfrm>
          <a:prstGeom prst="roundRect">
            <a:avLst>
              <a:gd name="adj" fmla="val 5926"/>
            </a:avLst>
          </a:prstGeom>
          <a:solidFill>
            <a:srgbClr val="2C5238"/>
          </a:solidFill>
          <a:ln/>
        </p:spPr>
      </p:sp>
      <p:sp>
        <p:nvSpPr>
          <p:cNvPr id="11" name="Shape 9"/>
          <p:cNvSpPr/>
          <p:nvPr/>
        </p:nvSpPr>
        <p:spPr>
          <a:xfrm>
            <a:off x="1404518" y="4745736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12" name="Image 0" descr="/home/claude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690" y="4837908"/>
            <a:ext cx="199705" cy="19970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3504" y="5184648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planting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" y="5458968"/>
            <a:ext cx="198607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90749" y="4617720"/>
            <a:ext cx="2095805" cy="1234440"/>
          </a:xfrm>
          <a:prstGeom prst="roundRect">
            <a:avLst>
              <a:gd name="adj" fmla="val 5926"/>
            </a:avLst>
          </a:prstGeom>
          <a:solidFill>
            <a:srgbClr val="2C5238"/>
          </a:solidFill>
          <a:ln/>
        </p:spPr>
      </p:sp>
      <p:sp>
        <p:nvSpPr>
          <p:cNvPr id="16" name="Shape 13"/>
          <p:cNvSpPr/>
          <p:nvPr/>
        </p:nvSpPr>
        <p:spPr>
          <a:xfrm>
            <a:off x="3646627" y="4745736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17" name="Image 1" descr="/home/claude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799" y="4837908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45613" y="5184648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planting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845613" y="5458968"/>
            <a:ext cx="198607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proof &amp; verification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032858" y="4617720"/>
            <a:ext cx="2095805" cy="1234440"/>
          </a:xfrm>
          <a:prstGeom prst="roundRect">
            <a:avLst>
              <a:gd name="adj" fmla="val 5926"/>
            </a:avLst>
          </a:prstGeom>
          <a:solidFill>
            <a:srgbClr val="2C5238"/>
          </a:solidFill>
          <a:ln/>
        </p:spPr>
      </p:sp>
      <p:sp>
        <p:nvSpPr>
          <p:cNvPr id="21" name="Shape 17"/>
          <p:cNvSpPr/>
          <p:nvPr/>
        </p:nvSpPr>
        <p:spPr>
          <a:xfrm>
            <a:off x="5888736" y="4745736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22" name="Image 2" descr="/home/claude/icons/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908" y="4837908"/>
            <a:ext cx="199705" cy="1997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87722" y="5184648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planting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087722" y="5458968"/>
            <a:ext cx="198607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 &amp; health monitoring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274966" y="4617720"/>
            <a:ext cx="2095805" cy="1234440"/>
          </a:xfrm>
          <a:prstGeom prst="roundRect">
            <a:avLst>
              <a:gd name="adj" fmla="val 5926"/>
            </a:avLst>
          </a:prstGeom>
          <a:solidFill>
            <a:srgbClr val="2C5238"/>
          </a:solidFill>
          <a:ln/>
        </p:spPr>
      </p:sp>
      <p:sp>
        <p:nvSpPr>
          <p:cNvPr id="26" name="Shape 21"/>
          <p:cNvSpPr/>
          <p:nvPr/>
        </p:nvSpPr>
        <p:spPr>
          <a:xfrm>
            <a:off x="8130845" y="4745736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27" name="Image 3" descr="/home/claude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016" y="4837908"/>
            <a:ext cx="199705" cy="19970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29830" y="5184648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329830" y="5458968"/>
            <a:ext cx="198607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transparent participation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9517075" y="4617720"/>
            <a:ext cx="2095805" cy="1234440"/>
          </a:xfrm>
          <a:prstGeom prst="roundRect">
            <a:avLst>
              <a:gd name="adj" fmla="val 5926"/>
            </a:avLst>
          </a:prstGeom>
          <a:solidFill>
            <a:srgbClr val="2C5238"/>
          </a:solidFill>
          <a:ln/>
        </p:spPr>
      </p:sp>
      <p:sp>
        <p:nvSpPr>
          <p:cNvPr id="31" name="Shape 25"/>
          <p:cNvSpPr/>
          <p:nvPr/>
        </p:nvSpPr>
        <p:spPr>
          <a:xfrm>
            <a:off x="10372954" y="4745736"/>
            <a:ext cx="384048" cy="384048"/>
          </a:xfrm>
          <a:prstGeom prst="ellipse">
            <a:avLst/>
          </a:prstGeom>
          <a:solidFill>
            <a:srgbClr val="6B9362"/>
          </a:solidFill>
          <a:ln/>
        </p:spPr>
      </p:sp>
      <p:pic>
        <p:nvPicPr>
          <p:cNvPr id="32" name="Image 4" descr="/home/claude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5125" y="4837908"/>
            <a:ext cx="199705" cy="19970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71939" y="5184648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571939" y="5458968"/>
            <a:ext cx="198607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measurable plantation impact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a plantation claim to a verified, identifiable and trackable tree.”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2026-08-22T10:25:51Z</dcterms:created>
  <dcterms:modified xsi:type="dcterms:W3CDTF">2026-08-22T10:25:51Z</dcterms:modified>
</cp:coreProperties>
</file>